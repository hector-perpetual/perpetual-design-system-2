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Trafico</c:v>
                </c:pt>
              </c:strCache>
            </c:strRef>
          </c:tx>
          <c:spPr>
            <a:ln w="38100">
              <a:solidFill>
                <a:srgbClr val="1A56DB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Sem 1</c:v>
                </c:pt>
                <c:pt idx="1">
                  <c:v>Sem 2</c:v>
                </c:pt>
                <c:pt idx="2">
                  <c:v>Sem 3</c:v>
                </c:pt>
                <c:pt idx="3">
                  <c:v>Sem 4</c:v>
                </c:pt>
                <c:pt idx="4">
                  <c:v>Sem 5</c:v>
                </c:pt>
                <c:pt idx="5">
                  <c:v>Sem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210</c:v>
                </c:pt>
                <c:pt idx="1">
                  <c:v>130</c:v>
                </c:pt>
                <c:pt idx="2">
                  <c:v>150</c:v>
                </c:pt>
                <c:pt idx="3">
                  <c:v>250</c:v>
                </c:pt>
                <c:pt idx="4">
                  <c:v>300</c:v>
                </c:pt>
                <c:pt idx="5">
                  <c:v>335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DE1EF"/>
            </a:solidFill>
          </a:ln>
        </c:spPr>
        <c:txPr>
          <a:bodyPr/>
          <a:lstStyle/>
          <a:p>
            <a:pPr>
              <a:defRPr sz="900">
                <a:solidFill>
                  <a:srgbClr val="6B7280"/>
                </a:solidFill>
                <a:latin typeface="Armin Grotesk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>
          <c:spPr>
            <a:ln w="6350">
              <a:solidFill>
                <a:srgbClr val="DDE1EF"/>
              </a:solidFill>
            </a:ln>
          </c:spPr>
        </c:majorGridlines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B7280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1A56DB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70</c:v>
                </c:pt>
                <c:pt idx="2">
                  <c:v>55</c:v>
                </c:pt>
                <c:pt idx="3">
                  <c:v>95</c:v>
                </c:pt>
                <c:pt idx="4">
                  <c:v>80</c:v>
                </c:pt>
              </c:numCache>
            </c:numRef>
          </c:val>
        </c:ser>
        <c:gapWidth val="6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DE1EF"/>
            </a:solidFill>
          </a:ln>
        </c:spPr>
        <c:txPr>
          <a:bodyPr/>
          <a:lstStyle/>
          <a:p>
            <a:pPr>
              <a:defRPr sz="900">
                <a:solidFill>
                  <a:srgbClr val="6B7280"/>
                </a:solidFill>
                <a:latin typeface="Armin Grotesk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>
          <c:spPr>
            <a:ln w="6350">
              <a:solidFill>
                <a:srgbClr val="DDE1EF"/>
              </a:solidFill>
            </a:ln>
          </c:spPr>
        </c:majorGridlines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</c:v>
                </c:pt>
              </c:strCache>
            </c:strRef>
          </c:tx>
          <c:dPt>
            <c:idx val="0"/>
            <c:spPr>
              <a:solidFill>
                <a:srgbClr val="1A56DB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EF1F8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62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1A56DB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2028</c:v>
                </c:pt>
                <c:pt idx="4">
                  <c:v>2030</c:v>
                </c:pt>
                <c:pt idx="5">
                  <c:v>2032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45</c:v>
                </c:pt>
                <c:pt idx="2">
                  <c:v>95</c:v>
                </c:pt>
                <c:pt idx="3">
                  <c:v>60</c:v>
                </c:pt>
                <c:pt idx="4">
                  <c:v>80</c:v>
                </c:pt>
                <c:pt idx="5">
                  <c:v>70</c:v>
                </c:pt>
              </c:numCache>
            </c:numRef>
          </c:val>
        </c:ser>
        <c:gapWidth val="7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DE1EF"/>
            </a:solidFill>
          </a:ln>
        </c:spPr>
        <c:txPr>
          <a:bodyPr/>
          <a:lstStyle/>
          <a:p>
            <a:pPr>
              <a:defRPr sz="900">
                <a:solidFill>
                  <a:srgbClr val="6B7280"/>
                </a:solidFill>
                <a:latin typeface="Armin Grotesk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>
          <c:spPr>
            <a:ln w="6350">
              <a:solidFill>
                <a:srgbClr val="DDE1EF"/>
              </a:solidFill>
            </a:ln>
          </c:spPr>
        </c:majorGridlines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1A56DB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E</c:v>
                </c:pt>
                <c:pt idx="1">
                  <c:v>F</c:v>
                </c:pt>
                <c:pt idx="2">
                  <c:v>M</c:v>
                </c:pt>
                <c:pt idx="3">
                  <c:v>A</c:v>
                </c:pt>
                <c:pt idx="4">
                  <c:v>M</c:v>
                </c:pt>
                <c:pt idx="5">
                  <c:v>J</c:v>
                </c:pt>
                <c:pt idx="6">
                  <c:v>J</c:v>
                </c:pt>
                <c:pt idx="7">
                  <c:v>A</c:v>
                </c:pt>
                <c:pt idx="8">
                  <c:v>S</c:v>
                </c:pt>
                <c:pt idx="9">
                  <c:v>O</c:v>
                </c:pt>
                <c:pt idx="10">
                  <c:v>N</c:v>
                </c:pt>
                <c:pt idx="11">
                  <c:v>D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50</c:v>
                </c:pt>
                <c:pt idx="1">
                  <c:v>62</c:v>
                </c:pt>
                <c:pt idx="2">
                  <c:v>45</c:v>
                </c:pt>
                <c:pt idx="3">
                  <c:v>70</c:v>
                </c:pt>
                <c:pt idx="4">
                  <c:v>66</c:v>
                </c:pt>
                <c:pt idx="5">
                  <c:v>80</c:v>
                </c:pt>
                <c:pt idx="6">
                  <c:v>74</c:v>
                </c:pt>
                <c:pt idx="7">
                  <c:v>88</c:v>
                </c:pt>
                <c:pt idx="8">
                  <c:v>79</c:v>
                </c:pt>
                <c:pt idx="9">
                  <c:v>92</c:v>
                </c:pt>
                <c:pt idx="10">
                  <c:v>85</c:v>
                </c:pt>
                <c:pt idx="11">
                  <c:v>96</c:v>
                </c:pt>
              </c:numCache>
            </c:numRef>
          </c:val>
        </c:ser>
        <c:gapWidth val="45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DE1EF"/>
            </a:solidFill>
          </a:ln>
        </c:spPr>
        <c:txPr>
          <a:bodyPr/>
          <a:lstStyle/>
          <a:p>
            <a:pPr>
              <a:defRPr sz="900">
                <a:solidFill>
                  <a:srgbClr val="6B7280"/>
                </a:solidFill>
                <a:latin typeface="Armin Grotesk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>
          <c:spPr>
            <a:ln w="6350">
              <a:solidFill>
                <a:srgbClr val="DDE1EF"/>
              </a:solidFill>
            </a:ln>
          </c:spPr>
        </c:majorGridlines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</c:v>
                </c:pt>
              </c:strCache>
            </c:strRef>
          </c:tx>
          <c:dPt>
            <c:idx val="0"/>
            <c:spPr>
              <a:solidFill>
                <a:srgbClr val="F97316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EF1F8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</c:v>
                </c:pt>
                <c:pt idx="1">
                  <c:v>37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30175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325880" cy="15855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469880" y="50292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502920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spc="120">
                <a:solidFill>
                  <a:srgbClr val="1A56DB"/>
                </a:solidFill>
                <a:latin typeface="Armin Grotesk SemiBold"/>
              </a:rPr>
              <a:t>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100" b="0">
                <a:solidFill>
                  <a:srgbClr val="111827"/>
                </a:solidFill>
                <a:latin typeface="Armin Grotesk Black"/>
              </a:rPr>
              <a:t>Resultados que </a:t>
            </a:r>
            <a:r>
              <a:rPr sz="4100" b="0">
                <a:solidFill>
                  <a:srgbClr val="1A56DB"/>
                </a:solidFill>
                <a:latin typeface="Armin Grotesk Black"/>
              </a:rPr>
              <a:t>escalan</a:t>
            </a:r>
            <a:r>
              <a:rPr sz="4100" b="0">
                <a:solidFill>
                  <a:srgbClr val="111827"/>
                </a:solidFill>
                <a:latin typeface="Armin Grotesk Black"/>
              </a:rPr>
              <a:t> tu negocio.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24028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Armin Grotesk Normal"/>
              </a:rPr>
              <a:t>Un vistazo a lo que construimos para marcas que quieren crecer con datos.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914400" y="2880360"/>
          <a:ext cx="1033272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2468880" y="3063240"/>
            <a:ext cx="2468880" cy="8412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2633472" y="3246120"/>
            <a:ext cx="475488" cy="475488"/>
          </a:xfrm>
          <a:prstGeom prst="hexagon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43200" y="335584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3063240"/>
            <a:ext cx="15544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min Grotesk SemiBold"/>
              </a:rPr>
              <a:t>Trafico organico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3886200"/>
            <a:ext cx="2468880" cy="8412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7205472" y="4069080"/>
            <a:ext cx="475488" cy="475488"/>
          </a:xfrm>
          <a:prstGeom prst="hexagon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0" y="417880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2128" y="3886200"/>
            <a:ext cx="15544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min Grotesk SemiBold"/>
              </a:rPr>
              <a:t>Conversiones</a:t>
            </a:r>
          </a:p>
        </p:txBody>
      </p:sp>
      <p:pic>
        <p:nvPicPr>
          <p:cNvPr id="18" name="Picture 17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37376"/>
            <a:ext cx="960120" cy="11481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91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1097280"/>
            <a:ext cx="3291840" cy="3291840"/>
          </a:xfrm>
          <a:prstGeom prst="ellipse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389120"/>
            <a:ext cx="3474720" cy="3474720"/>
          </a:xfrm>
          <a:prstGeom prst="ellipse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548640"/>
            <a:ext cx="1188720" cy="1188720"/>
          </a:xfrm>
          <a:prstGeom prst="ellipse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188720" cy="14215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33288" y="2148840"/>
            <a:ext cx="731520" cy="64008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468880"/>
            <a:ext cx="8869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300" b="0">
                <a:solidFill>
                  <a:srgbClr val="111827"/>
                </a:solidFill>
                <a:latin typeface="Armin Grotesk Black"/>
              </a:rPr>
              <a:t>Transformamos tu operacion en una ventaja </a:t>
            </a:r>
            <a:r>
              <a:rPr sz="3300" b="0">
                <a:solidFill>
                  <a:srgbClr val="1A56DB"/>
                </a:solidFill>
                <a:latin typeface="Armin Grotesk Black"/>
              </a:rPr>
              <a:t>digital</a:t>
            </a:r>
            <a:r>
              <a:rPr sz="3300" b="0">
                <a:solidFill>
                  <a:srgbClr val="111827"/>
                </a:solidFill>
                <a:latin typeface="Armin Grotesk Black"/>
              </a:rPr>
              <a:t> medible.</a:t>
            </a:r>
          </a:p>
        </p:txBody>
      </p:sp>
      <p:pic>
        <p:nvPicPr>
          <p:cNvPr id="8" name="Picture 7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37376"/>
            <a:ext cx="960120" cy="1148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143000" cy="13668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0" y="4754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47548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spc="120">
                <a:solidFill>
                  <a:srgbClr val="1A56DB"/>
                </a:solidFill>
                <a:latin typeface="Armin Grotesk SemiBold"/>
              </a:rPr>
              <a:t>PERPETUAL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40">
                <a:solidFill>
                  <a:srgbClr val="1A56DB"/>
                </a:solidFill>
                <a:latin typeface="Armin Grotesk SemiBold"/>
              </a:rPr>
              <a:t>CRECIMIENTO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Armin Grotesk Black"/>
              </a:rPr>
              <a:t>Crecimiento de mercado </a:t>
            </a:r>
            <a:r>
              <a:rPr sz="3000" b="0">
                <a:solidFill>
                  <a:srgbClr val="1A56DB"/>
                </a:solidFill>
                <a:latin typeface="Armin Grotesk Black"/>
              </a:rPr>
              <a:t>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97679"/>
            <a:ext cx="1051560" cy="146304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A56DB"/>
              </a:gs>
              <a:gs pos="50000">
                <a:srgbClr val="3B82F6"/>
              </a:gs>
              <a:gs pos="100000">
                <a:srgbClr val="F9731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80644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Armin Grotesk SemiBold"/>
              </a:rPr>
              <a:t>Q1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657599"/>
            <a:ext cx="146304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65759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A56DB"/>
                </a:solidFill>
                <a:latin typeface="Armin Grotesk Black"/>
              </a:rPr>
              <a:t>S/ 126K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13631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min Grotesk SemiBold"/>
              </a:rPr>
              <a:t>INGRESOS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3291839"/>
            <a:ext cx="1051560" cy="246888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A56DB"/>
              </a:gs>
              <a:gs pos="50000">
                <a:srgbClr val="3B82F6"/>
              </a:gs>
              <a:gs pos="100000">
                <a:srgbClr val="F9731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580644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Armin Grotesk SemiBold"/>
              </a:rPr>
              <a:t>Q2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2651759"/>
            <a:ext cx="146304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65175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A56DB"/>
                </a:solidFill>
                <a:latin typeface="Armin Grotesk Black"/>
              </a:rPr>
              <a:t>S/ 256K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907791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min Grotesk SemiBold"/>
              </a:rPr>
              <a:t>INGRESOS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2560320"/>
            <a:ext cx="1051560" cy="3200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A56DB"/>
              </a:gs>
              <a:gs pos="50000">
                <a:srgbClr val="3B82F6"/>
              </a:gs>
              <a:gs pos="100000">
                <a:srgbClr val="F9731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580644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Armin Grotesk SemiBold"/>
              </a:rPr>
              <a:t>Q3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1920239"/>
            <a:ext cx="1463040" cy="548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192023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1A56DB"/>
                </a:solidFill>
                <a:latin typeface="Armin Grotesk Black"/>
              </a:rPr>
              <a:t>S/ 345K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217627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min Grotesk SemiBold"/>
              </a:rPr>
              <a:t>INGRESOS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68880"/>
            <a:ext cx="49377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74151"/>
                </a:solidFill>
                <a:latin typeface="Armin Grotesk"/>
              </a:rPr>
              <a:t>Cada trimestre crecimos con la misma logica: </a:t>
            </a:r>
            <a:r>
              <a:rPr sz="1500" b="0">
                <a:solidFill>
                  <a:srgbClr val="111827"/>
                </a:solidFill>
                <a:latin typeface="Armin Grotesk SemiBold"/>
              </a:rPr>
              <a:t>medir, ajustar y volver a medir.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3192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6B7280"/>
                </a:solidFill>
                <a:latin typeface="Armin Grotesk"/>
              </a:rPr>
              <a:t>El ingreso recurrente paso de seis cifras bajas a un pipeline predecible en tres trimestres, sin inflar el gasto en medios.</a:t>
            </a:r>
          </a:p>
        </p:txBody>
      </p:sp>
      <p:pic>
        <p:nvPicPr>
          <p:cNvPr id="24" name="Picture 23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37376"/>
            <a:ext cx="960120" cy="11481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91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143000" cy="13668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0" y="4754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47548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spc="120">
                <a:solidFill>
                  <a:srgbClr val="1A56DB"/>
                </a:solidFill>
                <a:latin typeface="Armin Grotesk SemiBold"/>
              </a:rPr>
              <a:t>PERPETUAL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40">
                <a:solidFill>
                  <a:srgbClr val="1A56DB"/>
                </a:solidFill>
                <a:latin typeface="Armin Grotesk SemiBold"/>
              </a:rPr>
              <a:t>TRAYECTORIA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Armin Grotesk Black"/>
              </a:rPr>
              <a:t>Cada ano, un nuevo </a:t>
            </a:r>
            <a:r>
              <a:rPr sz="3000" b="0">
                <a:solidFill>
                  <a:srgbClr val="1A56DB"/>
                </a:solidFill>
                <a:latin typeface="Armin Grotesk Black"/>
              </a:rPr>
              <a:t>hito.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468880"/>
            <a:ext cx="32004" cy="3566160"/>
          </a:xfrm>
          <a:prstGeom prst="roundRect">
            <a:avLst>
              <a:gd name="adj" fmla="val 0"/>
            </a:avLst>
          </a:prstGeom>
          <a:solidFill>
            <a:srgbClr val="DD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4608576" y="2468880"/>
            <a:ext cx="329184" cy="329184"/>
          </a:xfrm>
          <a:prstGeom prst="hexagon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487168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0">
                <a:solidFill>
                  <a:srgbClr val="1A56DB"/>
                </a:solidFill>
                <a:latin typeface="Armin Grotesk Black"/>
              </a:rPr>
              <a:t>2021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4231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rmin Grotesk SemiBold"/>
              </a:rPr>
              <a:t>Primeros clientes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74320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rmin Grotesk"/>
              </a:rPr>
              <a:t>Validamos el modelo con marcas locales.</a:t>
            </a:r>
          </a:p>
        </p:txBody>
      </p:sp>
      <p:sp>
        <p:nvSpPr>
          <p:cNvPr id="12" name="Hexagon 11"/>
          <p:cNvSpPr/>
          <p:nvPr/>
        </p:nvSpPr>
        <p:spPr>
          <a:xfrm>
            <a:off x="4608576" y="3401568"/>
            <a:ext cx="329184" cy="329184"/>
          </a:xfrm>
          <a:prstGeom prst="hexagon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3419856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0">
                <a:solidFill>
                  <a:srgbClr val="1A56DB"/>
                </a:solidFill>
                <a:latin typeface="Armin Grotesk Black"/>
              </a:rPr>
              <a:t>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355848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rmin Grotesk SemiBold"/>
              </a:rPr>
              <a:t>Expansion regional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675888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rmin Grotesk"/>
              </a:rPr>
              <a:t>Operacion en tres mercados de LatAm.</a:t>
            </a:r>
          </a:p>
        </p:txBody>
      </p:sp>
      <p:sp>
        <p:nvSpPr>
          <p:cNvPr id="16" name="Hexagon 15"/>
          <p:cNvSpPr/>
          <p:nvPr/>
        </p:nvSpPr>
        <p:spPr>
          <a:xfrm>
            <a:off x="4608576" y="4334256"/>
            <a:ext cx="329184" cy="329184"/>
          </a:xfrm>
          <a:prstGeom prst="hexagon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4352544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0">
                <a:solidFill>
                  <a:srgbClr val="1A56DB"/>
                </a:solidFill>
                <a:latin typeface="Armin Grotesk Black"/>
              </a:rPr>
              <a:t>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288536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rmin Grotesk SemiBold"/>
              </a:rPr>
              <a:t>Producto propio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608576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rmin Grotesk"/>
              </a:rPr>
              <a:t>Lanzamos la plataforma de medicion.</a:t>
            </a:r>
          </a:p>
        </p:txBody>
      </p:sp>
      <p:sp>
        <p:nvSpPr>
          <p:cNvPr id="20" name="Hexagon 19"/>
          <p:cNvSpPr/>
          <p:nvPr/>
        </p:nvSpPr>
        <p:spPr>
          <a:xfrm>
            <a:off x="4608576" y="5266944"/>
            <a:ext cx="329184" cy="329184"/>
          </a:xfrm>
          <a:prstGeom prst="hexagon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5285231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0">
                <a:solidFill>
                  <a:srgbClr val="1A56DB"/>
                </a:solidFill>
                <a:latin typeface="Armin Grotesk Black"/>
              </a:rPr>
              <a:t>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221224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rmin Grotesk SemiBold"/>
              </a:rPr>
              <a:t>Best seller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5541264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rmin Grotesk"/>
              </a:rPr>
              <a:t>El servicio mas contratado del portafolio.</a:t>
            </a:r>
          </a:p>
        </p:txBody>
      </p:sp>
      <p:pic>
        <p:nvPicPr>
          <p:cNvPr id="24" name="Picture 23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37376"/>
            <a:ext cx="960120" cy="11481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91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143000" cy="13668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0" y="4754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47548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spc="120">
                <a:solidFill>
                  <a:srgbClr val="1A56DB"/>
                </a:solidFill>
                <a:latin typeface="Armin Grotesk SemiBold"/>
              </a:rPr>
              <a:t>PERPETUAL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40">
                <a:solidFill>
                  <a:srgbClr val="1A56DB"/>
                </a:solidFill>
                <a:latin typeface="Armin Grotesk SemiBold"/>
              </a:rPr>
              <a:t>A MEDIDA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Armin Grotesk Black"/>
              </a:rPr>
              <a:t>Automatizacion con </a:t>
            </a:r>
            <a:r>
              <a:rPr sz="3000" b="0">
                <a:solidFill>
                  <a:srgbClr val="1A56DB"/>
                </a:solidFill>
                <a:latin typeface="Armin Grotesk Black"/>
              </a:rPr>
              <a:t>esencia</a:t>
            </a:r>
            <a:r>
              <a:rPr sz="3000" b="0">
                <a:solidFill>
                  <a:srgbClr val="111827"/>
                </a:solidFill>
                <a:latin typeface="Armin Grotesk Black"/>
              </a:rPr>
              <a:t> a medida.</a:t>
            </a:r>
          </a:p>
        </p:txBody>
      </p:sp>
      <p:sp>
        <p:nvSpPr>
          <p:cNvPr id="7" name="Gear 9 6"/>
          <p:cNvSpPr/>
          <p:nvPr/>
        </p:nvSpPr>
        <p:spPr>
          <a:xfrm>
            <a:off x="1188720" y="2743200"/>
            <a:ext cx="3108960" cy="3108960"/>
          </a:xfrm>
          <a:prstGeom prst="gear9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ear 6 7"/>
          <p:cNvSpPr/>
          <p:nvPr/>
        </p:nvSpPr>
        <p:spPr>
          <a:xfrm>
            <a:off x="3291840" y="4206240"/>
            <a:ext cx="1828800" cy="1828800"/>
          </a:xfrm>
          <a:prstGeom prst="gear6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31720" y="370332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0" y="2834640"/>
            <a:ext cx="3291840" cy="8412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6931152" y="3017520"/>
            <a:ext cx="475488" cy="475488"/>
          </a:xfrm>
          <a:prstGeom prst="hexagon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0" y="312724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07808" y="298094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rmin Grotesk SemiBold"/>
              </a:rPr>
              <a:t>Opcion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32735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min Grotesk"/>
              </a:rPr>
              <a:t>4.314.000 procesos/ano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4069080"/>
            <a:ext cx="3291840" cy="8412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6931152" y="4251960"/>
            <a:ext cx="475488" cy="475488"/>
          </a:xfrm>
          <a:prstGeom prst="hexagon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40880" y="436168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7808" y="421538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rmin Grotesk SemiBold"/>
              </a:rPr>
              <a:t>Opcion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45079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min Grotesk"/>
              </a:rPr>
              <a:t>4.314.000 procesos/ano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34924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Armin Grotesk"/>
              </a:rPr>
              <a:t>Flujos disenados para tu operacion, no plantillas genericas.</a:t>
            </a:r>
          </a:p>
        </p:txBody>
      </p:sp>
      <p:pic>
        <p:nvPicPr>
          <p:cNvPr id="21" name="Picture 20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37376"/>
            <a:ext cx="960120" cy="11481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91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143000" cy="13668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0" y="4754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47548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spc="120">
                <a:solidFill>
                  <a:srgbClr val="1A56DB"/>
                </a:solidFill>
                <a:latin typeface="Armin Grotesk SemiBold"/>
              </a:rPr>
              <a:t>PERPETUAL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40">
                <a:solidFill>
                  <a:srgbClr val="1A56DB"/>
                </a:solidFill>
                <a:latin typeface="Armin Grotesk SemiBold"/>
              </a:rPr>
              <a:t>COMUNIDAD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Armin Grotesk Black"/>
              </a:rPr>
              <a:t>Resultados que la gente </a:t>
            </a:r>
            <a:r>
              <a:rPr sz="3000" b="0">
                <a:solidFill>
                  <a:srgbClr val="1A56DB"/>
                </a:solidFill>
                <a:latin typeface="Armin Grotesk Black"/>
              </a:rPr>
              <a:t>celebra.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2743200"/>
          <a:ext cx="640080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Oval 7"/>
          <p:cNvSpPr/>
          <p:nvPr/>
        </p:nvSpPr>
        <p:spPr>
          <a:xfrm>
            <a:off x="7680960" y="2834640"/>
            <a:ext cx="1371600" cy="1371600"/>
          </a:xfrm>
          <a:prstGeom prst="ellipse">
            <a:avLst/>
          </a:prstGeom>
          <a:solidFill>
            <a:srgbClr val="F97316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312724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Armin Grotesk Black"/>
              </a:rPr>
              <a:t>10K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6118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rmin Grotesk SemiBold"/>
              </a:rPr>
              <a:t>ALCANCE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0" y="3291840"/>
            <a:ext cx="1371600" cy="1371600"/>
          </a:xfrm>
          <a:prstGeom prst="ellipse">
            <a:avLst/>
          </a:prstGeom>
          <a:solidFill>
            <a:srgbClr val="1A56DB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358444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Armin Grotesk Black"/>
              </a:rPr>
              <a:t>22K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4069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rmin Grotesk SemiBold"/>
              </a:rPr>
              <a:t>INTERACCION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0" y="4572000"/>
            <a:ext cx="1371600" cy="1371600"/>
          </a:xfrm>
          <a:prstGeom prst="ellipse">
            <a:avLst/>
          </a:prstGeom>
          <a:solidFill>
            <a:srgbClr val="0B1220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486460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Armin Grotesk Black"/>
              </a:rPr>
              <a:t>3K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5349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rmin Grotesk SemiBold"/>
              </a:rPr>
              <a:t>LEADS</a:t>
            </a:r>
          </a:p>
        </p:txBody>
      </p:sp>
      <p:pic>
        <p:nvPicPr>
          <p:cNvPr id="17" name="Picture 16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37376"/>
            <a:ext cx="960120" cy="11481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91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4983480" y="640080"/>
            <a:ext cx="2240280" cy="2240280"/>
          </a:xfrm>
          <a:prstGeom prst="hexagon">
            <a:avLst/>
          </a:prstGeom>
          <a:solidFill>
            <a:srgbClr val="123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xagon 2"/>
          <p:cNvSpPr/>
          <p:nvPr/>
        </p:nvSpPr>
        <p:spPr>
          <a:xfrm>
            <a:off x="5715000" y="1234440"/>
            <a:ext cx="777240" cy="777240"/>
          </a:xfrm>
          <a:prstGeom prst="hexagon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3840480" y="4846320"/>
            <a:ext cx="457200" cy="457200"/>
          </a:xfrm>
          <a:prstGeom prst="hexagon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7955279" y="4572000"/>
            <a:ext cx="365760" cy="365760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18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600" b="0">
                <a:solidFill>
                  <a:srgbClr val="FFFFFF"/>
                </a:solidFill>
                <a:latin typeface="Armin Grotesk Black"/>
              </a:rPr>
              <a:t>Seccion </a:t>
            </a:r>
            <a:r>
              <a:rPr sz="4600" b="0">
                <a:solidFill>
                  <a:srgbClr val="FBB900"/>
                </a:solidFill>
                <a:latin typeface="Armin Grotesk Black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9768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C7D7F5"/>
                </a:solidFill>
                <a:latin typeface="Armin Grotesk Normal"/>
              </a:rPr>
              <a:t>Estrategia y posicionamiento</a:t>
            </a:r>
          </a:p>
        </p:txBody>
      </p:sp>
      <p:pic>
        <p:nvPicPr>
          <p:cNvPr id="8" name="Picture 7" descr="perpetual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37376"/>
            <a:ext cx="960120" cy="1148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9AA6BD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9AA6BD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143000" cy="13668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0" y="4754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47548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spc="120">
                <a:solidFill>
                  <a:srgbClr val="1A56DB"/>
                </a:solidFill>
                <a:latin typeface="Armin Grotesk SemiBold"/>
              </a:rPr>
              <a:t>PERPETUAL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40">
                <a:solidFill>
                  <a:srgbClr val="1A56DB"/>
                </a:solidFill>
                <a:latin typeface="Armin Grotesk SemiBold"/>
              </a:rPr>
              <a:t>COBERTURA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Armin Grotesk Black"/>
              </a:rPr>
              <a:t>Presencia en la </a:t>
            </a:r>
            <a:r>
              <a:rPr sz="3000" b="0">
                <a:solidFill>
                  <a:srgbClr val="1A56DB"/>
                </a:solidFill>
                <a:latin typeface="Armin Grotesk Black"/>
              </a:rPr>
              <a:t>region.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51760"/>
            <a:ext cx="6400800" cy="3200400"/>
          </a:xfrm>
          <a:prstGeom prst="roundRect">
            <a:avLst>
              <a:gd name="adj" fmla="val 5000"/>
            </a:avLst>
          </a:prstGeom>
          <a:solidFill>
            <a:srgbClr val="F8F9FC"/>
          </a:solidFill>
          <a:ln w="12700">
            <a:solidFill>
              <a:srgbClr val="DD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11680" y="3383280"/>
            <a:ext cx="411480" cy="411480"/>
          </a:xfrm>
          <a:prstGeom prst="ellipse">
            <a:avLst/>
          </a:prstGeom>
          <a:solidFill>
            <a:srgbClr val="1A56DB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30552" y="3502152"/>
            <a:ext cx="173736" cy="1737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91840" y="4114800"/>
            <a:ext cx="411480" cy="411480"/>
          </a:xfrm>
          <a:prstGeom prst="ellipse">
            <a:avLst/>
          </a:prstGeom>
          <a:solidFill>
            <a:srgbClr val="1A56DB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10712" y="4233672"/>
            <a:ext cx="173736" cy="1737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89120" y="3566160"/>
            <a:ext cx="411480" cy="411480"/>
          </a:xfrm>
          <a:prstGeom prst="ellipse">
            <a:avLst/>
          </a:prstGeom>
          <a:solidFill>
            <a:srgbClr val="1A56DB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07992" y="3685032"/>
            <a:ext cx="173736" cy="1737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94960" y="4480560"/>
            <a:ext cx="411480" cy="411480"/>
          </a:xfrm>
          <a:prstGeom prst="ellipse">
            <a:avLst/>
          </a:prstGeom>
          <a:solidFill>
            <a:srgbClr val="1A56DB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13832" y="4599432"/>
            <a:ext cx="173736" cy="1737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6480" y="3840480"/>
            <a:ext cx="411480" cy="411480"/>
          </a:xfrm>
          <a:prstGeom prst="ellipse">
            <a:avLst/>
          </a:prstGeom>
          <a:solidFill>
            <a:srgbClr val="1A56DB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45352" y="3959352"/>
            <a:ext cx="173736" cy="1737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0" y="2651760"/>
            <a:ext cx="19202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>
            <a:off x="7790688" y="2880360"/>
            <a:ext cx="411480" cy="411480"/>
          </a:xfrm>
          <a:prstGeom prst="hexagon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364991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11827"/>
                </a:solidFill>
                <a:latin typeface="Armin Grotesk Black"/>
              </a:rPr>
              <a:t>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3749039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rmin Grotesk SemiBold"/>
              </a:rPr>
              <a:t>PERU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60" y="2651760"/>
            <a:ext cx="19202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xagon 22"/>
          <p:cNvSpPr/>
          <p:nvPr/>
        </p:nvSpPr>
        <p:spPr>
          <a:xfrm>
            <a:off x="9939528" y="2880360"/>
            <a:ext cx="411480" cy="411480"/>
          </a:xfrm>
          <a:prstGeom prst="hexagon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0" y="3364991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11827"/>
                </a:solidFill>
                <a:latin typeface="Armin Grotesk Black"/>
              </a:rPr>
              <a:t>67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3749039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rmin Grotesk SemiBold"/>
              </a:rPr>
              <a:t>MEXICO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4297680"/>
            <a:ext cx="19202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xagon 26"/>
          <p:cNvSpPr/>
          <p:nvPr/>
        </p:nvSpPr>
        <p:spPr>
          <a:xfrm>
            <a:off x="7790688" y="4526280"/>
            <a:ext cx="411480" cy="411480"/>
          </a:xfrm>
          <a:prstGeom prst="hexagon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501091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11827"/>
                </a:solidFill>
                <a:latin typeface="Armin Grotesk Black"/>
              </a:rPr>
              <a:t>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53949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rmin Grotesk SemiBold"/>
              </a:rPr>
              <a:t>COLOMBIA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60" y="4297680"/>
            <a:ext cx="19202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xagon 30"/>
          <p:cNvSpPr/>
          <p:nvPr/>
        </p:nvSpPr>
        <p:spPr>
          <a:xfrm>
            <a:off x="9939528" y="4526280"/>
            <a:ext cx="411480" cy="411480"/>
          </a:xfrm>
          <a:prstGeom prst="hexagon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501091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11827"/>
                </a:solidFill>
                <a:latin typeface="Armin Grotesk Black"/>
              </a:rPr>
              <a:t>76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9528" y="53949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rmin Grotesk SemiBold"/>
              </a:rPr>
              <a:t>CHILE</a:t>
            </a:r>
          </a:p>
        </p:txBody>
      </p:sp>
      <p:pic>
        <p:nvPicPr>
          <p:cNvPr id="34" name="Picture 33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37376"/>
            <a:ext cx="960120" cy="11481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691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143000" cy="13668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0" y="4754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47548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spc="120">
                <a:solidFill>
                  <a:srgbClr val="1A56DB"/>
                </a:solidFill>
                <a:latin typeface="Armin Grotesk SemiBold"/>
              </a:rPr>
              <a:t>PERPETUAL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40">
                <a:solidFill>
                  <a:srgbClr val="1A56DB"/>
                </a:solidFill>
                <a:latin typeface="Armin Grotesk SemiBold"/>
              </a:rPr>
              <a:t>INDICADORES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Armin Grotesk Black"/>
              </a:rPr>
              <a:t>Metricas que </a:t>
            </a:r>
            <a:r>
              <a:rPr sz="3000" b="0">
                <a:solidFill>
                  <a:srgbClr val="1A56DB"/>
                </a:solidFill>
                <a:latin typeface="Armin Grotesk Black"/>
              </a:rPr>
              <a:t>importan.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480560" y="2834640"/>
          <a:ext cx="2926080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480560" y="388620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Armin Grotesk Black"/>
              </a:rPr>
              <a:t>38%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45262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min Grotesk SemiBold"/>
              </a:rPr>
              <a:t>TASA DE CIERRE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08960"/>
            <a:ext cx="2286000" cy="84124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1078992" y="3291840"/>
            <a:ext cx="475488" cy="475488"/>
          </a:xfrm>
          <a:prstGeom prst="hexagon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8720" y="3401568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55648" y="32552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rmin Grotesk SemiBold"/>
              </a:rPr>
              <a:t>Awesome!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35478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min Grotesk"/>
              </a:rPr>
              <a:t>Nuestra meta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9260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56DB"/>
                </a:solidFill>
                <a:latin typeface="Armin Grotesk Black"/>
              </a:rPr>
              <a:t>350+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462107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60">
                <a:solidFill>
                  <a:srgbClr val="6B7280"/>
                </a:solidFill>
                <a:latin typeface="Armin Grotesk SemiBold"/>
              </a:rPr>
              <a:t>CLIENTES ACTIVOS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2062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11827"/>
                </a:solidFill>
                <a:latin typeface="Armin Grotesk Black"/>
              </a:rPr>
              <a:t>550+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742267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60">
                <a:solidFill>
                  <a:srgbClr val="6B7280"/>
                </a:solidFill>
                <a:latin typeface="Armin Grotesk SemiBold"/>
              </a:rPr>
              <a:t>PROYECTOS ENTREGADOS</a:t>
            </a:r>
          </a:p>
        </p:txBody>
      </p:sp>
      <p:pic>
        <p:nvPicPr>
          <p:cNvPr id="19" name="Picture 18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37376"/>
            <a:ext cx="960120" cy="11481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91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143000" cy="13668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0" y="4754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47548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spc="120">
                <a:solidFill>
                  <a:srgbClr val="1A56DB"/>
                </a:solidFill>
                <a:latin typeface="Armin Grotesk SemiBold"/>
              </a:rPr>
              <a:t>PERPETUAL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40">
                <a:solidFill>
                  <a:srgbClr val="1A56DB"/>
                </a:solidFill>
                <a:latin typeface="Armin Grotesk SemiBold"/>
              </a:rPr>
              <a:t>PROYECCION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Armin Grotesk Black"/>
              </a:rPr>
              <a:t>Proyeccion de </a:t>
            </a:r>
            <a:r>
              <a:rPr sz="3000" b="0">
                <a:solidFill>
                  <a:srgbClr val="1A56DB"/>
                </a:solidFill>
                <a:latin typeface="Armin Grotesk Black"/>
              </a:rPr>
              <a:t>usuarios.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2651760"/>
          <a:ext cx="694944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Up Arrow 7"/>
          <p:cNvSpPr/>
          <p:nvPr/>
        </p:nvSpPr>
        <p:spPr>
          <a:xfrm>
            <a:off x="8229600" y="2743200"/>
            <a:ext cx="457200" cy="640080"/>
          </a:xfrm>
          <a:prstGeom prst="upArrow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0" y="26974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Armin Grotesk Black"/>
              </a:rPr>
              <a:t>3.021+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3688" y="31272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rmin Grotesk"/>
              </a:rPr>
              <a:t>Usuarios nuevos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229600" y="4480560"/>
            <a:ext cx="457200" cy="640080"/>
          </a:xfrm>
          <a:prstGeom prst="downArrow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44348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11827"/>
                </a:solidFill>
                <a:latin typeface="Armin Grotesk Black"/>
              </a:rPr>
              <a:t>2.021+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3688" y="486460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rmin Grotesk"/>
              </a:rPr>
              <a:t>Usuarios recurrentes</a:t>
            </a:r>
          </a:p>
        </p:txBody>
      </p:sp>
      <p:pic>
        <p:nvPicPr>
          <p:cNvPr id="14" name="Picture 13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37376"/>
            <a:ext cx="960120" cy="1148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91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143000" cy="13668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0" y="4754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47548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spc="120">
                <a:solidFill>
                  <a:srgbClr val="1A56DB"/>
                </a:solidFill>
                <a:latin typeface="Armin Grotesk SemiBold"/>
              </a:rPr>
              <a:t>PERPETUAL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40">
                <a:solidFill>
                  <a:srgbClr val="1A56DB"/>
                </a:solidFill>
                <a:latin typeface="Armin Grotesk SemiBold"/>
              </a:rPr>
              <a:t>REDES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Armin Grotesk Black"/>
              </a:rPr>
              <a:t>Tu marca en </a:t>
            </a:r>
            <a:r>
              <a:rPr sz="3000" b="0">
                <a:solidFill>
                  <a:srgbClr val="1A56DB"/>
                </a:solidFill>
                <a:latin typeface="Armin Grotesk Black"/>
              </a:rPr>
              <a:t>redes.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4899605"/>
            <a:ext cx="1371600" cy="769674"/>
          </a:xfrm>
          <a:prstGeom prst="roundRect">
            <a:avLst>
              <a:gd name="adj" fmla="val 12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57607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111827"/>
                </a:solidFill>
                <a:latin typeface="Armin Grotesk Black"/>
              </a:rPr>
              <a:t>156,2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6126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min Grotesk SemiBold"/>
              </a:rPr>
              <a:t>TWEETS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4406223"/>
            <a:ext cx="1371600" cy="1263056"/>
          </a:xfrm>
          <a:prstGeom prst="roundRect">
            <a:avLst>
              <a:gd name="adj" fmla="val 1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57607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111827"/>
                </a:solidFill>
                <a:latin typeface="Armin Grotesk Black"/>
              </a:rPr>
              <a:t>256,2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6126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min Grotesk SemiBold"/>
              </a:rPr>
              <a:t>POSTS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2926080"/>
            <a:ext cx="1371600" cy="274320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57607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111827"/>
                </a:solidFill>
                <a:latin typeface="Armin Grotesk Black"/>
              </a:rPr>
              <a:t>556,2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6126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min Grotesk SemiBold"/>
              </a:rPr>
              <a:t>LIKES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912842"/>
            <a:ext cx="1371600" cy="1756437"/>
          </a:xfrm>
          <a:prstGeom prst="roundRect">
            <a:avLst>
              <a:gd name="adj" fmla="val 12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576072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111827"/>
                </a:solidFill>
                <a:latin typeface="Armin Grotesk Black"/>
              </a:rPr>
              <a:t>356,2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6126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  <a:latin typeface="Armin Grotesk SemiBold"/>
              </a:rPr>
              <a:t>VISTAS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97316"/>
                </a:solidFill>
                <a:latin typeface="Armin Grotesk SemiBold"/>
              </a:rPr>
              <a:t>Hola! Eres increible.</a:t>
            </a:r>
          </a:p>
        </p:txBody>
      </p:sp>
      <p:pic>
        <p:nvPicPr>
          <p:cNvPr id="20" name="Picture 19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37376"/>
            <a:ext cx="960120" cy="11481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91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143000" cy="13668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0" y="4754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47548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spc="120">
                <a:solidFill>
                  <a:srgbClr val="1A56DB"/>
                </a:solidFill>
                <a:latin typeface="Armin Grotesk SemiBold"/>
              </a:rPr>
              <a:t>PERPETUAL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40">
                <a:solidFill>
                  <a:srgbClr val="1A56DB"/>
                </a:solidFill>
                <a:latin typeface="Armin Grotesk SemiBold"/>
              </a:rPr>
              <a:t>METODO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Armin Grotesk Black"/>
              </a:rPr>
              <a:t>Investigamos y creamos </a:t>
            </a:r>
            <a:r>
              <a:rPr sz="3000" b="0">
                <a:solidFill>
                  <a:srgbClr val="1A56DB"/>
                </a:solidFill>
                <a:latin typeface="Armin Grotesk Black"/>
              </a:rPr>
              <a:t>ideas.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3657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74151"/>
                </a:solidFill>
                <a:latin typeface="Armin Grotesk"/>
              </a:rPr>
              <a:t>Un proceso en celdas: cada hipotesis se prueba antes de escalar.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min Grotesk SemiBold"/>
              </a:rPr>
              <a:t>EQUIPO PERPETUAL</a:t>
            </a:r>
          </a:p>
        </p:txBody>
      </p:sp>
      <p:sp>
        <p:nvSpPr>
          <p:cNvPr id="9" name="Hexagon 8"/>
          <p:cNvSpPr/>
          <p:nvPr/>
        </p:nvSpPr>
        <p:spPr>
          <a:xfrm>
            <a:off x="7315200" y="2237994"/>
            <a:ext cx="1234440" cy="1234440"/>
          </a:xfrm>
          <a:prstGeom prst="hexagon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8549640" y="2941624"/>
            <a:ext cx="1234440" cy="1234440"/>
          </a:xfrm>
          <a:prstGeom prst="hexagon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8549640" y="4373575"/>
            <a:ext cx="1234440" cy="1234440"/>
          </a:xfrm>
          <a:prstGeom prst="hexagon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7315200" y="5077206"/>
            <a:ext cx="1234440" cy="1234440"/>
          </a:xfrm>
          <a:prstGeom prst="hexagon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6080760" y="4373575"/>
            <a:ext cx="1234440" cy="1234440"/>
          </a:xfrm>
          <a:prstGeom prst="hexagon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6080760" y="2941624"/>
            <a:ext cx="1234440" cy="1234440"/>
          </a:xfrm>
          <a:prstGeom prst="hexagon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xagon 14"/>
          <p:cNvSpPr/>
          <p:nvPr/>
        </p:nvSpPr>
        <p:spPr>
          <a:xfrm>
            <a:off x="7315200" y="3657600"/>
            <a:ext cx="1234440" cy="1234440"/>
          </a:xfrm>
          <a:prstGeom prst="hexagon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05262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min Grotesk SemiBold"/>
              </a:rPr>
              <a:t>Matrix</a:t>
            </a:r>
          </a:p>
        </p:txBody>
      </p:sp>
      <p:pic>
        <p:nvPicPr>
          <p:cNvPr id="17" name="Picture 16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37376"/>
            <a:ext cx="960120" cy="11481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91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143000" cy="13668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0" y="4754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47548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spc="120">
                <a:solidFill>
                  <a:srgbClr val="1A56DB"/>
                </a:solidFill>
                <a:latin typeface="Armin Grotesk SemiBold"/>
              </a:rPr>
              <a:t>PERPETUAL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40">
                <a:solidFill>
                  <a:srgbClr val="1A56DB"/>
                </a:solidFill>
                <a:latin typeface="Armin Grotesk SemiBold"/>
              </a:rPr>
              <a:t>DESEMPENO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Armin Grotesk Black"/>
              </a:rPr>
              <a:t>Desempeno </a:t>
            </a:r>
            <a:r>
              <a:rPr sz="3000" b="0">
                <a:solidFill>
                  <a:srgbClr val="1A56DB"/>
                </a:solidFill>
                <a:latin typeface="Armin Grotesk Black"/>
              </a:rPr>
              <a:t>mensual.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2651760"/>
          <a:ext cx="768096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052560" y="3108960"/>
          <a:ext cx="2011680" cy="20116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052560" y="38404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111827"/>
                </a:solidFill>
                <a:latin typeface="Armin Grotesk Black"/>
              </a:rPr>
              <a:t>63%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5303520"/>
            <a:ext cx="2468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Armin Grotesk"/>
              </a:rPr>
              <a:t>Crecimiento sostenido mes a mes durante todo el ano.</a:t>
            </a:r>
          </a:p>
        </p:txBody>
      </p:sp>
      <p:pic>
        <p:nvPicPr>
          <p:cNvPr id="11" name="Picture 10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37376"/>
            <a:ext cx="960120" cy="1148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91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143000" cy="13668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0" y="4754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47548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spc="120">
                <a:solidFill>
                  <a:srgbClr val="1A56DB"/>
                </a:solidFill>
                <a:latin typeface="Armin Grotesk SemiBold"/>
              </a:rPr>
              <a:t>PERPETUAL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40">
                <a:solidFill>
                  <a:srgbClr val="1A56DB"/>
                </a:solidFill>
                <a:latin typeface="Armin Grotesk SemiBold"/>
              </a:rPr>
              <a:t>PLANES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Armin Grotesk Black"/>
              </a:rPr>
              <a:t>Planes que escalan </a:t>
            </a:r>
            <a:r>
              <a:rPr sz="3000" b="0">
                <a:solidFill>
                  <a:srgbClr val="1A56DB"/>
                </a:solidFill>
                <a:latin typeface="Armin Grotesk Black"/>
              </a:rPr>
              <a:t>contigo.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651760"/>
            <a:ext cx="3063240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F"/>
            </a:solidFill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971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rmin Grotesk SemiBold"/>
              </a:rPr>
              <a:t>Personal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3832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Armin Grotesk Black"/>
              </a:rPr>
              <a:t>S/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77639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min Grotesk SemiBold"/>
              </a:rPr>
              <a:t>POR MES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4489703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18488" y="4434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rmin Grotesk"/>
              </a:rPr>
              <a:t>1 proyecto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4873751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18488" y="48188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rmin Grotesk"/>
              </a:rPr>
              <a:t>Reportes basicos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5257799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18488" y="52029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rmin Grotesk"/>
              </a:rPr>
              <a:t>Soporte por correo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532120"/>
            <a:ext cx="2423160" cy="384048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32120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min Grotesk SemiBold"/>
              </a:rPr>
              <a:t>Elegir plan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2651760"/>
            <a:ext cx="3063240" cy="3383280"/>
          </a:xfrm>
          <a:prstGeom prst="roundRect">
            <a:avLst>
              <a:gd name="adj" fmla="val 7000"/>
            </a:avLst>
          </a:prstGeom>
          <a:solidFill>
            <a:srgbClr val="1A56DB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2971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rmin Grotesk SemiBold"/>
              </a:rPr>
              <a:t>Equipo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3832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Armin Grotesk Black"/>
              </a:rPr>
              <a:t>S/ 499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977639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BE4FF"/>
                </a:solidFill>
                <a:latin typeface="Armin Grotesk SemiBold"/>
              </a:rPr>
              <a:t>POR MES</a:t>
            </a:r>
          </a:p>
        </p:txBody>
      </p:sp>
      <p:sp>
        <p:nvSpPr>
          <p:cNvPr id="23" name="Oval 22"/>
          <p:cNvSpPr/>
          <p:nvPr/>
        </p:nvSpPr>
        <p:spPr>
          <a:xfrm>
            <a:off x="4800600" y="4489703"/>
            <a:ext cx="128016" cy="128016"/>
          </a:xfrm>
          <a:prstGeom prst="ellipse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7488" y="4434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rmin Grotesk"/>
              </a:rPr>
              <a:t>10 proyectos</a:t>
            </a:r>
          </a:p>
        </p:txBody>
      </p:sp>
      <p:sp>
        <p:nvSpPr>
          <p:cNvPr id="25" name="Oval 24"/>
          <p:cNvSpPr/>
          <p:nvPr/>
        </p:nvSpPr>
        <p:spPr>
          <a:xfrm>
            <a:off x="4800600" y="4873751"/>
            <a:ext cx="128016" cy="128016"/>
          </a:xfrm>
          <a:prstGeom prst="ellipse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47488" y="48188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rmin Grotesk"/>
              </a:rPr>
              <a:t>Dashboards en vivo</a:t>
            </a:r>
          </a:p>
        </p:txBody>
      </p:sp>
      <p:sp>
        <p:nvSpPr>
          <p:cNvPr id="27" name="Oval 26"/>
          <p:cNvSpPr/>
          <p:nvPr/>
        </p:nvSpPr>
        <p:spPr>
          <a:xfrm>
            <a:off x="4800600" y="5257799"/>
            <a:ext cx="128016" cy="128016"/>
          </a:xfrm>
          <a:prstGeom prst="ellipse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7488" y="52029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rmin Grotesk"/>
              </a:rPr>
              <a:t>Soporte prioritario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5532120"/>
            <a:ext cx="24231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600" y="5532120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1A56DB"/>
                </a:solidFill>
                <a:latin typeface="Armin Grotesk SemiBold"/>
              </a:rPr>
              <a:t>Elegir plan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09560" y="2651760"/>
            <a:ext cx="3063240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1EF"/>
            </a:solidFill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2971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11827"/>
                </a:solidFill>
                <a:latin typeface="Armin Grotesk SemiBold"/>
              </a:rPr>
              <a:t>Empresa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3832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Armin Grotesk Black"/>
              </a:rPr>
              <a:t>S/ 1.299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977639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min Grotesk SemiBold"/>
              </a:rPr>
              <a:t>POR MES</a:t>
            </a:r>
          </a:p>
        </p:txBody>
      </p:sp>
      <p:sp>
        <p:nvSpPr>
          <p:cNvPr id="35" name="Oval 34"/>
          <p:cNvSpPr/>
          <p:nvPr/>
        </p:nvSpPr>
        <p:spPr>
          <a:xfrm>
            <a:off x="8229600" y="4489703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76488" y="4434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rmin Grotesk"/>
              </a:rPr>
              <a:t>Ilimitado</a:t>
            </a:r>
          </a:p>
        </p:txBody>
      </p:sp>
      <p:sp>
        <p:nvSpPr>
          <p:cNvPr id="37" name="Oval 36"/>
          <p:cNvSpPr/>
          <p:nvPr/>
        </p:nvSpPr>
        <p:spPr>
          <a:xfrm>
            <a:off x="8229600" y="4873751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76488" y="48188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rmin Grotesk"/>
              </a:rPr>
              <a:t>Integraciones a medida</a:t>
            </a:r>
          </a:p>
        </p:txBody>
      </p:sp>
      <p:sp>
        <p:nvSpPr>
          <p:cNvPr id="39" name="Oval 38"/>
          <p:cNvSpPr/>
          <p:nvPr/>
        </p:nvSpPr>
        <p:spPr>
          <a:xfrm>
            <a:off x="8229600" y="5257799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76488" y="52029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rmin Grotesk"/>
              </a:rPr>
              <a:t>Account manager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5532120"/>
            <a:ext cx="2423160" cy="384048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5532120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min Grotesk SemiBold"/>
              </a:rPr>
              <a:t>Elegir plan</a:t>
            </a:r>
          </a:p>
        </p:txBody>
      </p:sp>
      <p:pic>
        <p:nvPicPr>
          <p:cNvPr id="43" name="Picture 42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37376"/>
            <a:ext cx="960120" cy="11481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691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143000" cy="13668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0" y="4754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47548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spc="120">
                <a:solidFill>
                  <a:srgbClr val="1A56DB"/>
                </a:solidFill>
                <a:latin typeface="Armin Grotesk SemiBold"/>
              </a:rPr>
              <a:t>PERPETUAL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40">
                <a:solidFill>
                  <a:srgbClr val="1A56DB"/>
                </a:solidFill>
                <a:latin typeface="Armin Grotesk SemiBold"/>
              </a:rPr>
              <a:t>EQUIPO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Armin Grotesk Black"/>
              </a:rPr>
              <a:t>Tres personas se suman al </a:t>
            </a:r>
            <a:r>
              <a:rPr sz="3000" b="0">
                <a:solidFill>
                  <a:srgbClr val="1A56DB"/>
                </a:solidFill>
                <a:latin typeface="Armin Grotesk Black"/>
              </a:rPr>
              <a:t>equipo.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3154680" cy="3108960"/>
          </a:xfrm>
          <a:prstGeom prst="roundRect">
            <a:avLst>
              <a:gd name="adj" fmla="val 7000"/>
            </a:avLst>
          </a:prstGeom>
          <a:solidFill>
            <a:srgbClr val="1A56DB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1234440" y="3063240"/>
            <a:ext cx="685800" cy="685800"/>
          </a:xfrm>
          <a:prstGeom prst="hexagon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3108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min Grotesk SemiBold"/>
              </a:rPr>
              <a:t>Jazmin Galindo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456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DBE4FF"/>
                </a:solidFill>
                <a:latin typeface="Armin Grotesk SemiBold"/>
              </a:rPr>
              <a:t>MARKETING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1148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BB900"/>
                </a:solidFill>
                <a:latin typeface="Armin Grotesk"/>
              </a:rPr>
              <a:t>★ ★ ★ ★ 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617720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FFFFFF"/>
                </a:solidFill>
                <a:latin typeface="Armin Grotesk"/>
              </a:rPr>
              <a:t>Lidera la estrategia de adquisicion y medicion.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743200"/>
            <a:ext cx="3154680" cy="3108960"/>
          </a:xfrm>
          <a:prstGeom prst="roundRect">
            <a:avLst>
              <a:gd name="adj" fmla="val 7000"/>
            </a:avLst>
          </a:prstGeom>
          <a:solidFill>
            <a:srgbClr val="0B1220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4754879" y="3063240"/>
            <a:ext cx="685800" cy="685800"/>
          </a:xfrm>
          <a:prstGeom prst="hexagon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59" y="3108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min Grotesk SemiBold"/>
              </a:rPr>
              <a:t>Kyron Downes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59" y="3456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9AA6BD"/>
                </a:solidFill>
                <a:latin typeface="Armin Grotesk SemiBold"/>
              </a:rPr>
              <a:t>PRODUCT DESIGNER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41148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BB900"/>
                </a:solidFill>
                <a:latin typeface="Armin Grotesk"/>
              </a:rPr>
              <a:t>★ ★ ★ ★ 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4617720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FFFFFF"/>
                </a:solidFill>
                <a:latin typeface="Armin Grotesk"/>
              </a:rPr>
              <a:t>Disena la experiencia de cada entregable.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2743200"/>
            <a:ext cx="3154680" cy="3108960"/>
          </a:xfrm>
          <a:prstGeom prst="roundRect">
            <a:avLst>
              <a:gd name="adj" fmla="val 7000"/>
            </a:avLst>
          </a:prstGeom>
          <a:solidFill>
            <a:srgbClr val="F8F9FC"/>
          </a:solidFill>
          <a:ln w="12700">
            <a:solidFill>
              <a:srgbClr val="DDE1EF"/>
            </a:solidFill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xagon 19"/>
          <p:cNvSpPr/>
          <p:nvPr/>
        </p:nvSpPr>
        <p:spPr>
          <a:xfrm>
            <a:off x="8275319" y="3063240"/>
            <a:ext cx="685800" cy="685800"/>
          </a:xfrm>
          <a:prstGeom prst="hexagon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3108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min Grotesk SemiBold"/>
              </a:rPr>
              <a:t>Mara Ibanez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456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Armin Grotesk SemiBold"/>
              </a:rPr>
              <a:t>DATA ANALYST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41148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BB900"/>
                </a:solidFill>
                <a:latin typeface="Armin Grotesk"/>
              </a:rPr>
              <a:t>★ ★ ★ ★ 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4617720"/>
            <a:ext cx="2514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374151"/>
                </a:solidFill>
                <a:latin typeface="Armin Grotesk"/>
              </a:rPr>
              <a:t>Convierte datos crudos en decisiones.</a:t>
            </a:r>
          </a:p>
        </p:txBody>
      </p:sp>
      <p:pic>
        <p:nvPicPr>
          <p:cNvPr id="25" name="Picture 24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37376"/>
            <a:ext cx="960120" cy="11481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91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143000" cy="13668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0" y="4754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47548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spc="120">
                <a:solidFill>
                  <a:srgbClr val="1A56DB"/>
                </a:solidFill>
                <a:latin typeface="Armin Grotesk SemiBold"/>
              </a:rPr>
              <a:t>PERPETUAL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40">
                <a:solidFill>
                  <a:srgbClr val="1A56DB"/>
                </a:solidFill>
                <a:latin typeface="Armin Grotesk SemiBold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Armin Grotesk Black"/>
              </a:rPr>
              <a:t>Hoja de ruta del </a:t>
            </a:r>
            <a:r>
              <a:rPr sz="3000" b="0">
                <a:solidFill>
                  <a:srgbClr val="1A56DB"/>
                </a:solidFill>
                <a:latin typeface="Armin Grotesk Black"/>
              </a:rPr>
              <a:t>proyecto.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114800"/>
            <a:ext cx="10149840" cy="109728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1371600" y="3867912"/>
            <a:ext cx="603504" cy="603504"/>
          </a:xfrm>
          <a:prstGeom prst="hexagon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867912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min Grotesk Black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606040"/>
            <a:ext cx="22860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2491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min Grotesk SemiBold"/>
              </a:rPr>
              <a:t>Descubrimiento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rmin Grotesk"/>
              </a:rPr>
              <a:t>Auditoria y objetivos.</a:t>
            </a:r>
          </a:p>
        </p:txBody>
      </p:sp>
      <p:sp>
        <p:nvSpPr>
          <p:cNvPr id="13" name="Hexagon 12"/>
          <p:cNvSpPr/>
          <p:nvPr/>
        </p:nvSpPr>
        <p:spPr>
          <a:xfrm>
            <a:off x="3977639" y="3867912"/>
            <a:ext cx="603504" cy="603504"/>
          </a:xfrm>
          <a:prstGeom prst="hexagon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39" y="3867912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min Grotesk Black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4800600"/>
            <a:ext cx="22860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79" y="49194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min Grotesk SemiBold"/>
              </a:rPr>
              <a:t>Estrategia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525780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rmin Grotesk"/>
              </a:rPr>
              <a:t>Plan y metricas clave.</a:t>
            </a:r>
          </a:p>
        </p:txBody>
      </p:sp>
      <p:sp>
        <p:nvSpPr>
          <p:cNvPr id="18" name="Hexagon 17"/>
          <p:cNvSpPr/>
          <p:nvPr/>
        </p:nvSpPr>
        <p:spPr>
          <a:xfrm>
            <a:off x="6583680" y="3867912"/>
            <a:ext cx="603504" cy="603504"/>
          </a:xfrm>
          <a:prstGeom prst="hexagon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867912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min Grotesk Black"/>
              </a:rP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2606040"/>
            <a:ext cx="22860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272491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min Grotesk SemiBold"/>
              </a:rPr>
              <a:t>Ejecucion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06324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rmin Grotesk"/>
              </a:rPr>
              <a:t>Implementacion por sprints.</a:t>
            </a:r>
          </a:p>
        </p:txBody>
      </p:sp>
      <p:sp>
        <p:nvSpPr>
          <p:cNvPr id="23" name="Hexagon 22"/>
          <p:cNvSpPr/>
          <p:nvPr/>
        </p:nvSpPr>
        <p:spPr>
          <a:xfrm>
            <a:off x="9189720" y="3867912"/>
            <a:ext cx="603504" cy="603504"/>
          </a:xfrm>
          <a:prstGeom prst="hexagon">
            <a:avLst/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3867912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min Grotesk Black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4800600"/>
            <a:ext cx="228600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49194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min Grotesk SemiBold"/>
              </a:rPr>
              <a:t>Optimizacion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5257800"/>
            <a:ext cx="2057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B7280"/>
                </a:solidFill>
                <a:latin typeface="Armin Grotesk"/>
              </a:rPr>
              <a:t>Mejora continua con data.</a:t>
            </a:r>
          </a:p>
        </p:txBody>
      </p:sp>
      <p:pic>
        <p:nvPicPr>
          <p:cNvPr id="28" name="Picture 27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37376"/>
            <a:ext cx="960120" cy="11481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691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822960"/>
            <a:ext cx="7315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0">
                <a:solidFill>
                  <a:srgbClr val="EEF1F8"/>
                </a:solidFill>
                <a:latin typeface="Armin Grotesk Black"/>
              </a:rPr>
              <a:t>2026</a:t>
            </a:r>
          </a:p>
        </p:txBody>
      </p:sp>
      <p:pic>
        <p:nvPicPr>
          <p:cNvPr id="3" name="Picture 2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143000" cy="13668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058400" y="4754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47548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spc="120">
                <a:solidFill>
                  <a:srgbClr val="1A56DB"/>
                </a:solidFill>
                <a:latin typeface="Armin Grotesk SemiBold"/>
              </a:rPr>
              <a:t>PERPETUAL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40">
                <a:solidFill>
                  <a:srgbClr val="1A56DB"/>
                </a:solidFill>
                <a:latin typeface="Armin Grotesk SemiBold"/>
              </a:rPr>
              <a:t>MISION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Armin Grotesk Black"/>
              </a:rPr>
              <a:t>Nueva mision para </a:t>
            </a:r>
            <a:r>
              <a:rPr sz="3000" b="0">
                <a:solidFill>
                  <a:srgbClr val="1A56DB"/>
                </a:solidFill>
                <a:latin typeface="Armin Grotesk Black"/>
              </a:rPr>
              <a:t>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657600"/>
            <a:ext cx="4846320" cy="2011680"/>
          </a:xfrm>
          <a:prstGeom prst="roundRect">
            <a:avLst>
              <a:gd name="adj" fmla="val 7000"/>
            </a:avLst>
          </a:prstGeom>
          <a:solidFill>
            <a:srgbClr val="F8F9FC"/>
          </a:solidFill>
          <a:ln w="12700">
            <a:solidFill>
              <a:srgbClr val="DD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>
            <a:off x="1280160" y="4069080"/>
            <a:ext cx="640080" cy="640080"/>
          </a:xfrm>
          <a:prstGeom prst="hexagon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40233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min Grotesk SemiBold"/>
              </a:rPr>
              <a:t>PUNTOS DE MEDICION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434340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11827"/>
                </a:solidFill>
                <a:latin typeface="Armin Grotesk Black"/>
              </a:rPr>
              <a:t>2,455,778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50292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min Grotesk"/>
              </a:rPr>
              <a:t>Target anual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657600"/>
            <a:ext cx="4846320" cy="2011680"/>
          </a:xfrm>
          <a:prstGeom prst="roundRect">
            <a:avLst>
              <a:gd name="adj" fmla="val 7000"/>
            </a:avLst>
          </a:prstGeom>
          <a:solidFill>
            <a:srgbClr val="F8F9FC"/>
          </a:solidFill>
          <a:ln w="12700">
            <a:solidFill>
              <a:srgbClr val="DD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6675120" y="4069080"/>
            <a:ext cx="640080" cy="640080"/>
          </a:xfrm>
          <a:prstGeom prst="hexagon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40233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Armin Grotesk SemiBold"/>
              </a:rPr>
              <a:t>MISIONES DE EMPRESA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34340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11827"/>
                </a:solidFill>
                <a:latin typeface="Armin Grotesk Black"/>
              </a:rPr>
              <a:t>2,455,778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50292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min Grotesk"/>
              </a:rPr>
              <a:t>Target anual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97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min Grotesk"/>
              </a:rPr>
              <a:t>Presentacion por Equipo Perpetual</a:t>
            </a:r>
          </a:p>
        </p:txBody>
      </p:sp>
      <p:pic>
        <p:nvPicPr>
          <p:cNvPr id="19" name="Picture 18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37376"/>
            <a:ext cx="960120" cy="11481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91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188720" cy="1421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280160"/>
            <a:ext cx="9418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111827"/>
                </a:solidFill>
                <a:latin typeface="Armin Grotesk Black"/>
              </a:rPr>
              <a:t>Branding </a:t>
            </a:r>
            <a:r>
              <a:rPr sz="3000" b="0">
                <a:solidFill>
                  <a:srgbClr val="1A56DB"/>
                </a:solidFill>
                <a:latin typeface="Armin Grotesk Black"/>
              </a:rPr>
              <a:t>101</a:t>
            </a:r>
            <a:r>
              <a:rPr sz="3000" b="0">
                <a:solidFill>
                  <a:srgbClr val="111827"/>
                </a:solidFill>
                <a:latin typeface="Armin Grotesk Black"/>
              </a:rPr>
              <a:t>: que es la marca?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33288" y="2057400"/>
            <a:ext cx="731520" cy="64008"/>
          </a:xfrm>
          <a:prstGeom prst="roundRect">
            <a:avLst>
              <a:gd name="adj" fmla="val 50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651760"/>
            <a:ext cx="4846320" cy="1463040"/>
          </a:xfrm>
          <a:prstGeom prst="roundRect">
            <a:avLst>
              <a:gd name="adj" fmla="val 10000"/>
            </a:avLst>
          </a:prstGeom>
          <a:solidFill>
            <a:srgbClr val="1A56DB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88036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spc="100">
                <a:solidFill>
                  <a:srgbClr val="DBE4FF"/>
                </a:solidFill>
                <a:latin typeface="Armin Grotesk SemiBold"/>
              </a:rPr>
              <a:t>OPINION PRINCIPAL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20040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FFFFFF"/>
                </a:solidFill>
                <a:latin typeface="Armin Grotesk SemiBold"/>
              </a:rPr>
              <a:t>La marca es la promesa que cumples cada vez que alguien te elige.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651760"/>
            <a:ext cx="2286000" cy="1463040"/>
          </a:xfrm>
          <a:prstGeom prst="roundRect">
            <a:avLst>
              <a:gd name="adj" fmla="val 1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0" y="2651760"/>
            <a:ext cx="2286000" cy="1463040"/>
          </a:xfrm>
          <a:prstGeom prst="roundRect">
            <a:avLst>
              <a:gd name="adj" fmla="val 16000"/>
            </a:avLst>
          </a:prstGeom>
          <a:solidFill>
            <a:srgbClr val="F8F9FC"/>
          </a:solidFill>
          <a:ln w="12700">
            <a:solidFill>
              <a:srgbClr val="DD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4297680"/>
            <a:ext cx="4754880" cy="146304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>
            <a:noFill/>
          </a:ln>
          <a:effectLst>
            <a:outerShdw blurRad="152400" dist="38100" dir="5400000" rotWithShape="0">
              <a:srgbClr val="1A2B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452628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spc="100">
                <a:solidFill>
                  <a:srgbClr val="9AA6BD"/>
                </a:solidFill>
                <a:latin typeface="Armin Grotesk SemiBold"/>
              </a:rPr>
              <a:t>TAREA ESPECIAL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84632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Armin Grotesk SemiBold"/>
              </a:rPr>
              <a:t>Define tu promesa de marca para 2026 en una sola frase.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297680"/>
            <a:ext cx="4846320" cy="1463040"/>
          </a:xfrm>
          <a:prstGeom prst="roundRect">
            <a:avLst>
              <a:gd name="adj" fmla="val 10000"/>
            </a:avLst>
          </a:prstGeom>
          <a:solidFill>
            <a:srgbClr val="F8F9FC"/>
          </a:solidFill>
          <a:ln w="12700">
            <a:solidFill>
              <a:srgbClr val="DDE1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572000"/>
            <a:ext cx="4297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74151"/>
                </a:solidFill>
                <a:latin typeface="Armin Grotesk"/>
              </a:rPr>
              <a:t>Una marca fuerte reduce el costo de adquisicion y sostiene el precio.</a:t>
            </a:r>
          </a:p>
        </p:txBody>
      </p:sp>
      <p:pic>
        <p:nvPicPr>
          <p:cNvPr id="15" name="Picture 14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37376"/>
            <a:ext cx="960120" cy="11481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91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143000" cy="136683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0" y="4754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0" y="475488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spc="120">
                <a:solidFill>
                  <a:srgbClr val="1A56DB"/>
                </a:solidFill>
                <a:latin typeface="Armin Grotesk SemiBold"/>
              </a:rPr>
              <a:t>PERPETUAL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140">
                <a:solidFill>
                  <a:srgbClr val="1A56DB"/>
                </a:solidFill>
                <a:latin typeface="Armin Grotesk SemiBold"/>
              </a:rPr>
              <a:t>INFOGRAFIA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0241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111827"/>
                </a:solidFill>
                <a:latin typeface="Armin Grotesk Black"/>
              </a:rPr>
              <a:t>Infografia 3D: </a:t>
            </a:r>
            <a:r>
              <a:rPr sz="3000" b="0">
                <a:solidFill>
                  <a:srgbClr val="1A56DB"/>
                </a:solidFill>
                <a:latin typeface="Armin Grotesk Black"/>
              </a:rPr>
              <a:t>6 pasos.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2194560" y="2651760"/>
            <a:ext cx="2377440" cy="640080"/>
          </a:xfrm>
          <a:prstGeom prst="parallelogram">
            <a:avLst>
              <a:gd name="adj" fmla="val 40000"/>
            </a:avLst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263347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Armin Grotesk Black"/>
              </a:rPr>
              <a:t>DATA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9443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min Grotesk"/>
              </a:rPr>
              <a:t>Metrica clave del paso 1.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2084831" y="3218688"/>
            <a:ext cx="2377440" cy="640080"/>
          </a:xfrm>
          <a:prstGeom prst="parallelogram">
            <a:avLst>
              <a:gd name="adj" fmla="val 4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-1572768" y="32004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111827"/>
                </a:solidFill>
                <a:latin typeface="Armin Grotesk Black"/>
              </a:rPr>
              <a:t>DATA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1572768" y="351129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min Grotesk"/>
              </a:rPr>
              <a:t>Metrica clave del paso 2.</a:t>
            </a:r>
          </a:p>
        </p:txBody>
      </p:sp>
      <p:sp>
        <p:nvSpPr>
          <p:cNvPr id="13" name="Parallelogram 12"/>
          <p:cNvSpPr/>
          <p:nvPr/>
        </p:nvSpPr>
        <p:spPr>
          <a:xfrm>
            <a:off x="1975104" y="3785615"/>
            <a:ext cx="2377440" cy="640080"/>
          </a:xfrm>
          <a:prstGeom prst="parallelogram">
            <a:avLst>
              <a:gd name="adj" fmla="val 40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4" y="376732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Armin Grotesk Black"/>
              </a:rPr>
              <a:t>DATA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407822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min Grotesk"/>
              </a:rPr>
              <a:t>Metrica clave del paso 3.</a:t>
            </a:r>
          </a:p>
        </p:txBody>
      </p:sp>
      <p:sp>
        <p:nvSpPr>
          <p:cNvPr id="16" name="Parallelogram 15"/>
          <p:cNvSpPr/>
          <p:nvPr/>
        </p:nvSpPr>
        <p:spPr>
          <a:xfrm>
            <a:off x="1865376" y="4352544"/>
            <a:ext cx="2377440" cy="640080"/>
          </a:xfrm>
          <a:prstGeom prst="parallelogram">
            <a:avLst>
              <a:gd name="adj" fmla="val 40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-1792224" y="433425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111827"/>
                </a:solidFill>
                <a:latin typeface="Armin Grotesk Black"/>
              </a:rPr>
              <a:t>DATA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1792224" y="46451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min Grotesk"/>
              </a:rPr>
              <a:t>Metrica clave del paso 4.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1755648" y="4919472"/>
            <a:ext cx="2377440" cy="640080"/>
          </a:xfrm>
          <a:prstGeom prst="parallelogram">
            <a:avLst>
              <a:gd name="adj" fmla="val 4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490118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Armin Grotesk Black"/>
              </a:rPr>
              <a:t>DATA 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52120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min Grotesk"/>
              </a:rPr>
              <a:t>Metrica clave del paso 5.</a:t>
            </a:r>
          </a:p>
        </p:txBody>
      </p:sp>
      <p:sp>
        <p:nvSpPr>
          <p:cNvPr id="22" name="Parallelogram 21"/>
          <p:cNvSpPr/>
          <p:nvPr/>
        </p:nvSpPr>
        <p:spPr>
          <a:xfrm>
            <a:off x="1645919" y="5486400"/>
            <a:ext cx="2377440" cy="640080"/>
          </a:xfrm>
          <a:prstGeom prst="parallelogram">
            <a:avLst>
              <a:gd name="adj" fmla="val 40000"/>
            </a:avLst>
          </a:prstGeom>
          <a:solidFill>
            <a:srgbClr val="FB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-2011680" y="546811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111827"/>
                </a:solidFill>
                <a:latin typeface="Armin Grotesk Black"/>
              </a:rPr>
              <a:t>DATA 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2011680" y="577900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min Grotesk"/>
              </a:rPr>
              <a:t>Metrica clave del paso 6.</a:t>
            </a:r>
          </a:p>
        </p:txBody>
      </p:sp>
      <p:pic>
        <p:nvPicPr>
          <p:cNvPr id="25" name="Picture 24" descr="perpetual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37376"/>
            <a:ext cx="960120" cy="11481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91640" y="64008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JetBrains Mono"/>
              </a:rPr>
              <a:t>Confidencial  ·  Perpetual Technologies ©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400800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JetBrains Mono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